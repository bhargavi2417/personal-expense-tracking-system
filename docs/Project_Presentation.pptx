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esentation" id="{c46cb773-4deb-8a0f-4b3c-a0028f115084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 web app to record, filter and analyse personal expenses. Add your name and roll number on this slide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why expense tracking matters and list the five objectives.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technology and what it is used for in this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Follow a request from the browser to the database and back. Mention the analysis package and the safety measures.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one-to-many relationship and the rules enforced by the database.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Demonstrate each feature live if time allows.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real outputs of the charts module using the sample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the optional MySQL tests need a separate database ending in _test.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Summarise, then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371600"/>
            <a:ext cx="78638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560320"/>
            <a:ext cx="78638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6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37160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Personal Expense Tracking System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56032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B.Tech CSE Mini Project  |  Mohan Babu University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Presented by: [Your name], [Roll number]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Problem and objectives</a:t>
            </a:r>
            <a:endParaRPr lang="en-US" sz="2600" dirty="0"/>
          </a:p>
        </p:txBody>
      </p:sp>
      <p:sp>
        <p:nvSpPr>
          <p:cNvPr id="3" name="Problem card"/>
          <p:cNvSpPr/>
          <p:nvPr/>
        </p:nvSpPr>
        <p:spPr>
          <a:xfrm>
            <a:off x="457200" y="1097280"/>
            <a:ext cx="3931920" cy="27432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Problem accent"/>
          <p:cNvSpPr/>
          <p:nvPr/>
        </p:nvSpPr>
        <p:spPr>
          <a:xfrm>
            <a:off x="457200" y="1097280"/>
            <a:ext cx="64008" cy="274320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Problem heading"/>
          <p:cNvSpPr txBox="1"/>
          <p:nvPr/>
        </p:nvSpPr>
        <p:spPr>
          <a:xfrm>
            <a:off x="640080" y="11704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The problem</a:t>
            </a:r>
            <a:endParaRPr lang="en-US" sz="1500" dirty="0"/>
          </a:p>
        </p:txBody>
      </p:sp>
      <p:sp>
        <p:nvSpPr>
          <p:cNvPr id="6" name="Problem text"/>
          <p:cNvSpPr txBox="1"/>
          <p:nvPr/>
        </p:nvSpPr>
        <p:spPr>
          <a:xfrm>
            <a:off x="640080" y="1554480"/>
            <a:ext cx="3657600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Students and families lose track of where money goes. Paper notes and memory are unreliable, and totals by month or category are hard to calculate by hand.</a:t>
            </a:r>
            <a:endParaRPr lang="en-US" sz="1400" dirty="0"/>
          </a:p>
        </p:txBody>
      </p:sp>
      <p:sp>
        <p:nvSpPr>
          <p:cNvPr id="7" name="Objectives card"/>
          <p:cNvSpPr/>
          <p:nvPr/>
        </p:nvSpPr>
        <p:spPr>
          <a:xfrm>
            <a:off x="4754880" y="1097280"/>
            <a:ext cx="3931920" cy="27432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Objectives accent"/>
          <p:cNvSpPr/>
          <p:nvPr/>
        </p:nvSpPr>
        <p:spPr>
          <a:xfrm>
            <a:off x="4754880" y="1097280"/>
            <a:ext cx="64008" cy="274320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Objectives heading"/>
          <p:cNvSpPr txBox="1"/>
          <p:nvPr/>
        </p:nvSpPr>
        <p:spPr>
          <a:xfrm>
            <a:off x="4937760" y="11704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Objectives</a:t>
            </a:r>
            <a:endParaRPr lang="en-US" sz="1500" dirty="0"/>
          </a:p>
        </p:txBody>
      </p:sp>
      <p:sp>
        <p:nvSpPr>
          <p:cNvPr id="10" name="Objectives text"/>
          <p:cNvSpPr txBox="1"/>
          <p:nvPr/>
        </p:nvSpPr>
        <p:spPr>
          <a:xfrm>
            <a:off x="4937760" y="1554480"/>
            <a:ext cx="3657600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Record expenses with validation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Organise them by category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Filter by date and category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Show totals, percentages and charts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Keep data safely in MySQL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Technology stack</a:t>
            </a:r>
            <a:endParaRPr lang="en-US" sz="2600" dirty="0"/>
          </a:p>
        </p:txBody>
      </p:sp>
      <p:sp>
        <p:nvSpPr>
          <p:cNvPr id="3" name="Stack 1 card"/>
          <p:cNvSpPr/>
          <p:nvPr/>
        </p:nvSpPr>
        <p:spPr>
          <a:xfrm>
            <a:off x="457200" y="1143000"/>
            <a:ext cx="2651760" cy="15544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tack 1 accent"/>
          <p:cNvSpPr/>
          <p:nvPr/>
        </p:nvSpPr>
        <p:spPr>
          <a:xfrm>
            <a:off x="457200" y="1143000"/>
            <a:ext cx="64008" cy="15544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Stack 1 heading"/>
          <p:cNvSpPr txBox="1"/>
          <p:nvPr/>
        </p:nvSpPr>
        <p:spPr>
          <a:xfrm>
            <a:off x="640080" y="12161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Python + Flask</a:t>
            </a:r>
            <a:endParaRPr lang="en-US" sz="1500" dirty="0"/>
          </a:p>
        </p:txBody>
      </p:sp>
      <p:sp>
        <p:nvSpPr>
          <p:cNvPr id="6" name="Stack 1 text"/>
          <p:cNvSpPr txBox="1"/>
          <p:nvPr/>
        </p:nvSpPr>
        <p:spPr>
          <a:xfrm>
            <a:off x="640080" y="1600200"/>
            <a:ext cx="23774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Web server, routes and templates</a:t>
            </a:r>
            <a:endParaRPr lang="en-US" sz="1400" dirty="0"/>
          </a:p>
        </p:txBody>
      </p:sp>
      <p:sp>
        <p:nvSpPr>
          <p:cNvPr id="7" name="Stack 2 card"/>
          <p:cNvSpPr/>
          <p:nvPr/>
        </p:nvSpPr>
        <p:spPr>
          <a:xfrm>
            <a:off x="3291840" y="1143000"/>
            <a:ext cx="2651760" cy="15544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tack 2 accent"/>
          <p:cNvSpPr/>
          <p:nvPr/>
        </p:nvSpPr>
        <p:spPr>
          <a:xfrm>
            <a:off x="3291840" y="1143000"/>
            <a:ext cx="64008" cy="15544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Stack 2 heading"/>
          <p:cNvSpPr txBox="1"/>
          <p:nvPr/>
        </p:nvSpPr>
        <p:spPr>
          <a:xfrm>
            <a:off x="3474720" y="12161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MySQL + PyMySQL</a:t>
            </a:r>
            <a:endParaRPr lang="en-US" sz="1500" dirty="0"/>
          </a:p>
        </p:txBody>
      </p:sp>
      <p:sp>
        <p:nvSpPr>
          <p:cNvPr id="10" name="Stack 2 text"/>
          <p:cNvSpPr txBox="1"/>
          <p:nvPr/>
        </p:nvSpPr>
        <p:spPr>
          <a:xfrm>
            <a:off x="3474720" y="1600200"/>
            <a:ext cx="23774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Relational storage with parameterized SQL</a:t>
            </a:r>
            <a:endParaRPr lang="en-US" sz="1400" dirty="0"/>
          </a:p>
        </p:txBody>
      </p:sp>
      <p:sp>
        <p:nvSpPr>
          <p:cNvPr id="11" name="Stack 3 card"/>
          <p:cNvSpPr/>
          <p:nvPr/>
        </p:nvSpPr>
        <p:spPr>
          <a:xfrm>
            <a:off x="6126480" y="1143000"/>
            <a:ext cx="2651760" cy="15544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tack 3 accent"/>
          <p:cNvSpPr/>
          <p:nvPr/>
        </p:nvSpPr>
        <p:spPr>
          <a:xfrm>
            <a:off x="6126480" y="1143000"/>
            <a:ext cx="64008" cy="155448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Stack 3 heading"/>
          <p:cNvSpPr txBox="1"/>
          <p:nvPr/>
        </p:nvSpPr>
        <p:spPr>
          <a:xfrm>
            <a:off x="6309360" y="12161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Pandas + NumPy</a:t>
            </a:r>
            <a:endParaRPr lang="en-US" sz="1500" dirty="0"/>
          </a:p>
        </p:txBody>
      </p:sp>
      <p:sp>
        <p:nvSpPr>
          <p:cNvPr id="14" name="Stack 3 text"/>
          <p:cNvSpPr txBox="1"/>
          <p:nvPr/>
        </p:nvSpPr>
        <p:spPr>
          <a:xfrm>
            <a:off x="6309360" y="1600200"/>
            <a:ext cx="23774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Totals, averages, percentages, monthly grouping</a:t>
            </a:r>
            <a:endParaRPr lang="en-US" sz="1400" dirty="0"/>
          </a:p>
        </p:txBody>
      </p:sp>
      <p:sp>
        <p:nvSpPr>
          <p:cNvPr id="15" name="Stack 4 card"/>
          <p:cNvSpPr/>
          <p:nvPr/>
        </p:nvSpPr>
        <p:spPr>
          <a:xfrm>
            <a:off x="457200" y="2880360"/>
            <a:ext cx="2651760" cy="15544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tack 4 accent"/>
          <p:cNvSpPr/>
          <p:nvPr/>
        </p:nvSpPr>
        <p:spPr>
          <a:xfrm>
            <a:off x="457200" y="2880360"/>
            <a:ext cx="64008" cy="155448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Stack 4 heading"/>
          <p:cNvSpPr txBox="1"/>
          <p:nvPr/>
        </p:nvSpPr>
        <p:spPr>
          <a:xfrm>
            <a:off x="640080" y="295351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Matplotlib</a:t>
            </a:r>
            <a:endParaRPr lang="en-US" sz="1500" dirty="0"/>
          </a:p>
        </p:txBody>
      </p:sp>
      <p:sp>
        <p:nvSpPr>
          <p:cNvPr id="18" name="Stack 4 text"/>
          <p:cNvSpPr txBox="1"/>
          <p:nvPr/>
        </p:nvSpPr>
        <p:spPr>
          <a:xfrm>
            <a:off x="640080" y="3337560"/>
            <a:ext cx="23774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Pie and bar charts rendered as PNG images</a:t>
            </a:r>
            <a:endParaRPr lang="en-US" sz="1400" dirty="0"/>
          </a:p>
        </p:txBody>
      </p:sp>
      <p:sp>
        <p:nvSpPr>
          <p:cNvPr id="19" name="Stack 5 card"/>
          <p:cNvSpPr/>
          <p:nvPr/>
        </p:nvSpPr>
        <p:spPr>
          <a:xfrm>
            <a:off x="3291840" y="2880360"/>
            <a:ext cx="2651760" cy="15544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Stack 5 accent"/>
          <p:cNvSpPr/>
          <p:nvPr/>
        </p:nvSpPr>
        <p:spPr>
          <a:xfrm>
            <a:off x="3291840" y="2880360"/>
            <a:ext cx="64008" cy="155448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1" name="Stack 5 heading"/>
          <p:cNvSpPr txBox="1"/>
          <p:nvPr/>
        </p:nvSpPr>
        <p:spPr>
          <a:xfrm>
            <a:off x="3474720" y="295351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HTML, CSS, JavaScript</a:t>
            </a:r>
            <a:endParaRPr lang="en-US" sz="1500" dirty="0"/>
          </a:p>
        </p:txBody>
      </p:sp>
      <p:sp>
        <p:nvSpPr>
          <p:cNvPr id="22" name="Stack 5 text"/>
          <p:cNvSpPr txBox="1"/>
          <p:nvPr/>
        </p:nvSpPr>
        <p:spPr>
          <a:xfrm>
            <a:off x="3474720" y="3337560"/>
            <a:ext cx="23774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Responsive pages, confirmation dialogs, form checks</a:t>
            </a:r>
            <a:endParaRPr lang="en-US" sz="1400" dirty="0"/>
          </a:p>
        </p:txBody>
      </p:sp>
      <p:sp>
        <p:nvSpPr>
          <p:cNvPr id="23" name="Stack 6 card"/>
          <p:cNvSpPr/>
          <p:nvPr/>
        </p:nvSpPr>
        <p:spPr>
          <a:xfrm>
            <a:off x="6126480" y="2880360"/>
            <a:ext cx="2651760" cy="15544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Stack 6 accent"/>
          <p:cNvSpPr/>
          <p:nvPr/>
        </p:nvSpPr>
        <p:spPr>
          <a:xfrm>
            <a:off x="6126480" y="2880360"/>
            <a:ext cx="64008" cy="155448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5" name="Stack 6 heading"/>
          <p:cNvSpPr txBox="1"/>
          <p:nvPr/>
        </p:nvSpPr>
        <p:spPr>
          <a:xfrm>
            <a:off x="6309360" y="295351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unittest</a:t>
            </a:r>
            <a:endParaRPr lang="en-US" sz="1500" dirty="0"/>
          </a:p>
        </p:txBody>
      </p:sp>
      <p:sp>
        <p:nvSpPr>
          <p:cNvPr id="26" name="Stack 6 text"/>
          <p:cNvSpPr txBox="1"/>
          <p:nvPr/>
        </p:nvSpPr>
        <p:spPr>
          <a:xfrm>
            <a:off x="6309360" y="3337560"/>
            <a:ext cx="23774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83 automated tests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Architecture</a:t>
            </a:r>
            <a:endParaRPr lang="en-US" sz="2600" dirty="0"/>
          </a:p>
        </p:txBody>
      </p:sp>
      <p:sp>
        <p:nvSpPr>
          <p:cNvPr id="3" name="Flow box 1"/>
          <p:cNvSpPr/>
          <p:nvPr/>
        </p:nvSpPr>
        <p:spPr>
          <a:xfrm>
            <a:off x="457200" y="1371600"/>
            <a:ext cx="1828800" cy="1097280"/>
          </a:xfrm>
          <a:prstGeom prst="roundRect">
            <a:avLst>
              <a:gd name="adj" fmla="val 8333"/>
            </a:avLst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" name="Flow label 1"/>
          <p:cNvSpPr txBox="1"/>
          <p:nvPr/>
        </p:nvSpPr>
        <p:spPr>
          <a:xfrm>
            <a:off x="457200" y="13716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Browser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HTML, CSS, JS</a:t>
            </a:r>
            <a:endParaRPr lang="en-US" sz="1400" dirty="0"/>
          </a:p>
        </p:txBody>
      </p:sp>
      <p:sp>
        <p:nvSpPr>
          <p:cNvPr id="5" name="Arrow 1"/>
          <p:cNvSpPr txBox="1"/>
          <p:nvPr/>
        </p:nvSpPr>
        <p:spPr>
          <a:xfrm>
            <a:off x="2286000" y="164592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→</a:t>
            </a:r>
            <a:endParaRPr lang="en-US" sz="2400" dirty="0"/>
          </a:p>
        </p:txBody>
      </p:sp>
      <p:sp>
        <p:nvSpPr>
          <p:cNvPr id="6" name="Flow box 2"/>
          <p:cNvSpPr/>
          <p:nvPr/>
        </p:nvSpPr>
        <p:spPr>
          <a:xfrm>
            <a:off x="2606040" y="1371600"/>
            <a:ext cx="1828800" cy="1097280"/>
          </a:xfrm>
          <a:prstGeom prst="roundRect">
            <a:avLst>
              <a:gd name="adj" fmla="val 8333"/>
            </a:avLst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7" name="Flow label 2"/>
          <p:cNvSpPr txBox="1"/>
          <p:nvPr/>
        </p:nvSpPr>
        <p:spPr>
          <a:xfrm>
            <a:off x="2606040" y="13716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Flask routes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app.py</a:t>
            </a:r>
            <a:endParaRPr lang="en-US" sz="1400" dirty="0"/>
          </a:p>
        </p:txBody>
      </p:sp>
      <p:sp>
        <p:nvSpPr>
          <p:cNvPr id="8" name="Arrow 2"/>
          <p:cNvSpPr txBox="1"/>
          <p:nvPr/>
        </p:nvSpPr>
        <p:spPr>
          <a:xfrm>
            <a:off x="4434840" y="164592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→</a:t>
            </a:r>
            <a:endParaRPr lang="en-US" sz="2400" dirty="0"/>
          </a:p>
        </p:txBody>
      </p:sp>
      <p:sp>
        <p:nvSpPr>
          <p:cNvPr id="9" name="Flow box 3"/>
          <p:cNvSpPr/>
          <p:nvPr/>
        </p:nvSpPr>
        <p:spPr>
          <a:xfrm>
            <a:off x="4754880" y="1371600"/>
            <a:ext cx="1828800" cy="1097280"/>
          </a:xfrm>
          <a:prstGeom prst="roundRect">
            <a:avLst>
              <a:gd name="adj" fmla="val 8333"/>
            </a:avLst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" name="Flow label 3"/>
          <p:cNvSpPr txBox="1"/>
          <p:nvPr/>
        </p:nvSpPr>
        <p:spPr>
          <a:xfrm>
            <a:off x="4754880" y="13716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Validators + Repository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validators.py, repository.py</a:t>
            </a:r>
            <a:endParaRPr lang="en-US" sz="1400" dirty="0"/>
          </a:p>
        </p:txBody>
      </p:sp>
      <p:sp>
        <p:nvSpPr>
          <p:cNvPr id="11" name="Arrow 3"/>
          <p:cNvSpPr txBox="1"/>
          <p:nvPr/>
        </p:nvSpPr>
        <p:spPr>
          <a:xfrm>
            <a:off x="6583680" y="164592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→</a:t>
            </a:r>
            <a:endParaRPr lang="en-US" sz="2400" dirty="0"/>
          </a:p>
        </p:txBody>
      </p:sp>
      <p:sp>
        <p:nvSpPr>
          <p:cNvPr id="12" name="Flow box 4"/>
          <p:cNvSpPr/>
          <p:nvPr/>
        </p:nvSpPr>
        <p:spPr>
          <a:xfrm>
            <a:off x="6903720" y="1371600"/>
            <a:ext cx="1828800" cy="1097280"/>
          </a:xfrm>
          <a:prstGeom prst="roundRect">
            <a:avLst>
              <a:gd name="adj" fmla="val 8333"/>
            </a:avLst>
          </a:prstGeom>
          <a:solidFill>
            <a:schemeClr val="accent3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3" name="Flow label 4"/>
          <p:cNvSpPr txBox="1"/>
          <p:nvPr/>
        </p:nvSpPr>
        <p:spPr>
          <a:xfrm>
            <a:off x="6903720" y="13716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MySQL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categories, expenses</a:t>
            </a:r>
            <a:endParaRPr lang="en-US" sz="1400" dirty="0"/>
          </a:p>
        </p:txBody>
      </p:sp>
      <p:sp>
        <p:nvSpPr>
          <p:cNvPr id="14" name="Analysis card"/>
          <p:cNvSpPr/>
          <p:nvPr/>
        </p:nvSpPr>
        <p:spPr>
          <a:xfrm>
            <a:off x="457200" y="2834640"/>
            <a:ext cx="3931920" cy="16459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Analysis accent"/>
          <p:cNvSpPr/>
          <p:nvPr/>
        </p:nvSpPr>
        <p:spPr>
          <a:xfrm>
            <a:off x="457200" y="2834640"/>
            <a:ext cx="64008" cy="164592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Analysis heading"/>
          <p:cNvSpPr txBox="1"/>
          <p:nvPr/>
        </p:nvSpPr>
        <p:spPr>
          <a:xfrm>
            <a:off x="640080" y="29077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analysis/ package</a:t>
            </a:r>
            <a:endParaRPr lang="en-US" sz="1500" dirty="0"/>
          </a:p>
        </p:txBody>
      </p:sp>
      <p:sp>
        <p:nvSpPr>
          <p:cNvPr id="17" name="Analysis text"/>
          <p:cNvSpPr txBox="1"/>
          <p:nvPr/>
        </p:nvSpPr>
        <p:spPr>
          <a:xfrm>
            <a:off x="640080" y="3291840"/>
            <a:ext cx="36576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Pandas and NumPy compute statistics; Matplotlib draws charts. Safe for empty data.</a:t>
            </a:r>
            <a:endParaRPr lang="en-US" sz="1400" dirty="0"/>
          </a:p>
        </p:txBody>
      </p:sp>
      <p:sp>
        <p:nvSpPr>
          <p:cNvPr id="18" name="Safety card"/>
          <p:cNvSpPr/>
          <p:nvPr/>
        </p:nvSpPr>
        <p:spPr>
          <a:xfrm>
            <a:off x="4754880" y="2834640"/>
            <a:ext cx="3931920" cy="16459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afety accent"/>
          <p:cNvSpPr/>
          <p:nvPr/>
        </p:nvSpPr>
        <p:spPr>
          <a:xfrm>
            <a:off x="4754880" y="2834640"/>
            <a:ext cx="64008" cy="164592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0" name="Safety heading"/>
          <p:cNvSpPr txBox="1"/>
          <p:nvPr/>
        </p:nvSpPr>
        <p:spPr>
          <a:xfrm>
            <a:off x="4937760" y="29077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Safety</a:t>
            </a:r>
            <a:endParaRPr lang="en-US" sz="1500" dirty="0"/>
          </a:p>
        </p:txBody>
      </p:sp>
      <p:sp>
        <p:nvSpPr>
          <p:cNvPr id="21" name="Safety text"/>
          <p:cNvSpPr txBox="1"/>
          <p:nvPr/>
        </p:nvSpPr>
        <p:spPr>
          <a:xfrm>
            <a:off x="4937760" y="3291840"/>
            <a:ext cx="36576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Parameterized SQL, input validation, CSRF tokens, escaped HTML, clear error pages.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Database design</a:t>
            </a:r>
            <a:endParaRPr lang="en-US" sz="2600" dirty="0"/>
          </a:p>
        </p:txBody>
      </p:sp>
      <p:sp>
        <p:nvSpPr>
          <p:cNvPr id="3" name="categories card"/>
          <p:cNvSpPr/>
          <p:nvPr/>
        </p:nvSpPr>
        <p:spPr>
          <a:xfrm>
            <a:off x="457200" y="1097280"/>
            <a:ext cx="3931920" cy="24688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categories accent"/>
          <p:cNvSpPr/>
          <p:nvPr/>
        </p:nvSpPr>
        <p:spPr>
          <a:xfrm>
            <a:off x="457200" y="1097280"/>
            <a:ext cx="64008" cy="24688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categories heading"/>
          <p:cNvSpPr txBox="1"/>
          <p:nvPr/>
        </p:nvSpPr>
        <p:spPr>
          <a:xfrm>
            <a:off x="640080" y="11704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categories</a:t>
            </a:r>
            <a:endParaRPr lang="en-US" sz="1500" dirty="0"/>
          </a:p>
        </p:txBody>
      </p:sp>
      <p:sp>
        <p:nvSpPr>
          <p:cNvPr id="6" name="categories text"/>
          <p:cNvSpPr txBox="1"/>
          <p:nvPr/>
        </p:nvSpPr>
        <p:spPr>
          <a:xfrm>
            <a:off x="640080" y="1554480"/>
            <a:ext cx="3657600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id (primary key)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name (unique, required)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description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created_at</a:t>
            </a:r>
            <a:endParaRPr lang="en-US" sz="1400" dirty="0"/>
          </a:p>
        </p:txBody>
      </p:sp>
      <p:sp>
        <p:nvSpPr>
          <p:cNvPr id="7" name="expenses card"/>
          <p:cNvSpPr/>
          <p:nvPr/>
        </p:nvSpPr>
        <p:spPr>
          <a:xfrm>
            <a:off x="4754880" y="1097280"/>
            <a:ext cx="3931920" cy="24688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expenses accent"/>
          <p:cNvSpPr/>
          <p:nvPr/>
        </p:nvSpPr>
        <p:spPr>
          <a:xfrm>
            <a:off x="4754880" y="1097280"/>
            <a:ext cx="64008" cy="24688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expenses heading"/>
          <p:cNvSpPr txBox="1"/>
          <p:nvPr/>
        </p:nvSpPr>
        <p:spPr>
          <a:xfrm>
            <a:off x="4937760" y="11704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expenses</a:t>
            </a:r>
            <a:endParaRPr lang="en-US" sz="1500" dirty="0"/>
          </a:p>
        </p:txBody>
      </p:sp>
      <p:sp>
        <p:nvSpPr>
          <p:cNvPr id="10" name="expenses text"/>
          <p:cNvSpPr txBox="1"/>
          <p:nvPr/>
        </p:nvSpPr>
        <p:spPr>
          <a:xfrm>
            <a:off x="4937760" y="1554480"/>
            <a:ext cx="3657600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id (primary key)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title, notes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amount DECIMAL(10,2), must be &gt; 0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expense_date DATE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category_id (foreign key)</a:t>
            </a:r>
            <a:endParaRPr lang="en-US" sz="1400" dirty="0"/>
          </a:p>
        </p:txBody>
      </p:sp>
      <p:sp>
        <p:nvSpPr>
          <p:cNvPr id="11" name="Relationship note"/>
          <p:cNvSpPr txBox="1"/>
          <p:nvPr/>
        </p:nvSpPr>
        <p:spPr>
          <a:xfrm>
            <a:off x="457200" y="3840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One category has many expenses. A category that still has expenses cannot be deleted (ON DELETE RESTRICT).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Key features</a:t>
            </a:r>
            <a:endParaRPr lang="en-US" sz="2600" dirty="0"/>
          </a:p>
        </p:txBody>
      </p:sp>
      <p:sp>
        <p:nvSpPr>
          <p:cNvPr id="3" name="Feature 1 card"/>
          <p:cNvSpPr/>
          <p:nvPr/>
        </p:nvSpPr>
        <p:spPr>
          <a:xfrm>
            <a:off x="457200" y="1097280"/>
            <a:ext cx="3931920" cy="10058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Feature 1 accent"/>
          <p:cNvSpPr/>
          <p:nvPr/>
        </p:nvSpPr>
        <p:spPr>
          <a:xfrm>
            <a:off x="457200" y="1097280"/>
            <a:ext cx="64008" cy="10058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Feature 1 heading"/>
          <p:cNvSpPr txBox="1"/>
          <p:nvPr/>
        </p:nvSpPr>
        <p:spPr>
          <a:xfrm>
            <a:off x="640080" y="11704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Expense management</a:t>
            </a:r>
            <a:endParaRPr lang="en-US" sz="1500" dirty="0"/>
          </a:p>
        </p:txBody>
      </p:sp>
      <p:sp>
        <p:nvSpPr>
          <p:cNvPr id="6" name="Feature 1 text"/>
          <p:cNvSpPr txBox="1"/>
          <p:nvPr/>
        </p:nvSpPr>
        <p:spPr>
          <a:xfrm>
            <a:off x="640080" y="155448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Add, edit, delete with clear validation messages</a:t>
            </a:r>
            <a:endParaRPr lang="en-US" sz="1400" dirty="0"/>
          </a:p>
        </p:txBody>
      </p:sp>
      <p:sp>
        <p:nvSpPr>
          <p:cNvPr id="7" name="Feature 2 card"/>
          <p:cNvSpPr/>
          <p:nvPr/>
        </p:nvSpPr>
        <p:spPr>
          <a:xfrm>
            <a:off x="4754880" y="1097280"/>
            <a:ext cx="3931920" cy="10058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Feature 2 accent"/>
          <p:cNvSpPr/>
          <p:nvPr/>
        </p:nvSpPr>
        <p:spPr>
          <a:xfrm>
            <a:off x="4754880" y="1097280"/>
            <a:ext cx="64008" cy="10058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Feature 2 heading"/>
          <p:cNvSpPr txBox="1"/>
          <p:nvPr/>
        </p:nvSpPr>
        <p:spPr>
          <a:xfrm>
            <a:off x="4937760" y="11704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Category management</a:t>
            </a:r>
            <a:endParaRPr lang="en-US" sz="1500" dirty="0"/>
          </a:p>
        </p:txBody>
      </p:sp>
      <p:sp>
        <p:nvSpPr>
          <p:cNvPr id="10" name="Feature 2 text"/>
          <p:cNvSpPr txBox="1"/>
          <p:nvPr/>
        </p:nvSpPr>
        <p:spPr>
          <a:xfrm>
            <a:off x="4937760" y="155448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Add, rename, protected delete</a:t>
            </a:r>
            <a:endParaRPr lang="en-US" sz="1400" dirty="0"/>
          </a:p>
        </p:txBody>
      </p:sp>
      <p:sp>
        <p:nvSpPr>
          <p:cNvPr id="11" name="Feature 3 card"/>
          <p:cNvSpPr/>
          <p:nvPr/>
        </p:nvSpPr>
        <p:spPr>
          <a:xfrm>
            <a:off x="457200" y="2240280"/>
            <a:ext cx="3931920" cy="10058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Feature 3 accent"/>
          <p:cNvSpPr/>
          <p:nvPr/>
        </p:nvSpPr>
        <p:spPr>
          <a:xfrm>
            <a:off x="457200" y="2240280"/>
            <a:ext cx="64008" cy="100584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Feature 3 heading"/>
          <p:cNvSpPr txBox="1"/>
          <p:nvPr/>
        </p:nvSpPr>
        <p:spPr>
          <a:xfrm>
            <a:off x="640080" y="23134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Filters</a:t>
            </a:r>
            <a:endParaRPr lang="en-US" sz="1500" dirty="0"/>
          </a:p>
        </p:txBody>
      </p:sp>
      <p:sp>
        <p:nvSpPr>
          <p:cNvPr id="14" name="Feature 3 text"/>
          <p:cNvSpPr txBox="1"/>
          <p:nvPr/>
        </p:nvSpPr>
        <p:spPr>
          <a:xfrm>
            <a:off x="640080" y="269748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Date range, category, or both together</a:t>
            </a:r>
            <a:endParaRPr lang="en-US" sz="1400" dirty="0"/>
          </a:p>
        </p:txBody>
      </p:sp>
      <p:sp>
        <p:nvSpPr>
          <p:cNvPr id="15" name="Feature 4 card"/>
          <p:cNvSpPr/>
          <p:nvPr/>
        </p:nvSpPr>
        <p:spPr>
          <a:xfrm>
            <a:off x="4754880" y="2240280"/>
            <a:ext cx="3931920" cy="10058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Feature 4 accent"/>
          <p:cNvSpPr/>
          <p:nvPr/>
        </p:nvSpPr>
        <p:spPr>
          <a:xfrm>
            <a:off x="4754880" y="2240280"/>
            <a:ext cx="64008" cy="100584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Feature 4 heading"/>
          <p:cNvSpPr txBox="1"/>
          <p:nvPr/>
        </p:nvSpPr>
        <p:spPr>
          <a:xfrm>
            <a:off x="4937760" y="23134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Dashboard</a:t>
            </a:r>
            <a:endParaRPr lang="en-US" sz="1500" dirty="0"/>
          </a:p>
        </p:txBody>
      </p:sp>
      <p:sp>
        <p:nvSpPr>
          <p:cNvPr id="18" name="Feature 4 text"/>
          <p:cNvSpPr txBox="1"/>
          <p:nvPr/>
        </p:nvSpPr>
        <p:spPr>
          <a:xfrm>
            <a:off x="4937760" y="269748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Totals, average, this month, category shares</a:t>
            </a:r>
            <a:endParaRPr lang="en-US" sz="1400" dirty="0"/>
          </a:p>
        </p:txBody>
      </p:sp>
      <p:sp>
        <p:nvSpPr>
          <p:cNvPr id="19" name="Feature 5 card"/>
          <p:cNvSpPr/>
          <p:nvPr/>
        </p:nvSpPr>
        <p:spPr>
          <a:xfrm>
            <a:off x="457200" y="3383280"/>
            <a:ext cx="3931920" cy="10058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Feature 5 accent"/>
          <p:cNvSpPr/>
          <p:nvPr/>
        </p:nvSpPr>
        <p:spPr>
          <a:xfrm>
            <a:off x="457200" y="3383280"/>
            <a:ext cx="64008" cy="100584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1" name="Feature 5 heading"/>
          <p:cNvSpPr txBox="1"/>
          <p:nvPr/>
        </p:nvSpPr>
        <p:spPr>
          <a:xfrm>
            <a:off x="640080" y="34564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Charts</a:t>
            </a:r>
            <a:endParaRPr lang="en-US" sz="1500" dirty="0"/>
          </a:p>
        </p:txBody>
      </p:sp>
      <p:sp>
        <p:nvSpPr>
          <p:cNvPr id="22" name="Feature 5 text"/>
          <p:cNvSpPr txBox="1"/>
          <p:nvPr/>
        </p:nvSpPr>
        <p:spPr>
          <a:xfrm>
            <a:off x="640080" y="384048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Pie chart by category, bar chart by month</a:t>
            </a:r>
            <a:endParaRPr lang="en-US" sz="1400" dirty="0"/>
          </a:p>
        </p:txBody>
      </p:sp>
      <p:sp>
        <p:nvSpPr>
          <p:cNvPr id="23" name="Feature 6 card"/>
          <p:cNvSpPr/>
          <p:nvPr/>
        </p:nvSpPr>
        <p:spPr>
          <a:xfrm>
            <a:off x="4754880" y="3383280"/>
            <a:ext cx="3931920" cy="10058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Feature 6 accent"/>
          <p:cNvSpPr/>
          <p:nvPr/>
        </p:nvSpPr>
        <p:spPr>
          <a:xfrm>
            <a:off x="4754880" y="3383280"/>
            <a:ext cx="64008" cy="100584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5" name="Feature 6 heading"/>
          <p:cNvSpPr txBox="1"/>
          <p:nvPr/>
        </p:nvSpPr>
        <p:spPr>
          <a:xfrm>
            <a:off x="4937760" y="34564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Reports and export</a:t>
            </a:r>
            <a:endParaRPr lang="en-US" sz="1500" dirty="0"/>
          </a:p>
        </p:txBody>
      </p:sp>
      <p:sp>
        <p:nvSpPr>
          <p:cNvPr id="26" name="Feature 6 text"/>
          <p:cNvSpPr txBox="1"/>
          <p:nvPr/>
        </p:nvSpPr>
        <p:spPr>
          <a:xfrm>
            <a:off x="4937760" y="384048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Monthly report and CSV download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Results: charts from the sample data</a:t>
            </a:r>
            <a:endParaRPr lang="en-US" sz="2600" dirty="0"/>
          </a:p>
        </p:txBody>
      </p:sp>
      <p:pic>
        <p:nvPicPr>
          <p:cNvPr id="3" name="Category pie chart" descr="pi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463040"/>
            <a:ext cx="4206240" cy="2295144"/>
          </a:xfrm>
          <a:prstGeom prst="rect">
            <a:avLst/>
          </a:prstGeom>
        </p:spPr>
      </p:pic>
      <p:pic>
        <p:nvPicPr>
          <p:cNvPr id="4" name="Monthly bar chart" descr="b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51560"/>
            <a:ext cx="3657600" cy="3118104"/>
          </a:xfrm>
          <a:prstGeom prst="rect">
            <a:avLst/>
          </a:prstGeom>
        </p:spPr>
      </p:pic>
      <p:sp>
        <p:nvSpPr>
          <p:cNvPr id="5" name="Chart caption"/>
          <p:cNvSpPr txBox="1"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tx1"/>
                </a:solidFill>
              </a:rPr>
              <a:t>Generated by the application from the 34 fictional sample expenses (July to October 2026).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Testing</a:t>
            </a:r>
            <a:endParaRPr lang="en-US" sz="2600" dirty="0"/>
          </a:p>
        </p:txBody>
      </p:sp>
      <p:sp>
        <p:nvSpPr>
          <p:cNvPr id="3" name="Stat card 1"/>
          <p:cNvSpPr/>
          <p:nvPr/>
        </p:nvSpPr>
        <p:spPr>
          <a:xfrm>
            <a:off x="457200" y="1097280"/>
            <a:ext cx="2651760" cy="13716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tat number 1"/>
          <p:cNvSpPr txBox="1"/>
          <p:nvPr/>
        </p:nvSpPr>
        <p:spPr>
          <a:xfrm>
            <a:off x="457200" y="114300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83</a:t>
            </a:r>
            <a:endParaRPr lang="en-US" sz="4000" dirty="0"/>
          </a:p>
        </p:txBody>
      </p:sp>
      <p:sp>
        <p:nvSpPr>
          <p:cNvPr id="5" name="Stat label 1"/>
          <p:cNvSpPr txBox="1"/>
          <p:nvPr/>
        </p:nvSpPr>
        <p:spPr>
          <a:xfrm>
            <a:off x="457200" y="18745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automated tests</a:t>
            </a:r>
            <a:endParaRPr lang="en-US" sz="1300" dirty="0"/>
          </a:p>
        </p:txBody>
      </p:sp>
      <p:sp>
        <p:nvSpPr>
          <p:cNvPr id="6" name="Stat card 2"/>
          <p:cNvSpPr/>
          <p:nvPr/>
        </p:nvSpPr>
        <p:spPr>
          <a:xfrm>
            <a:off x="3291840" y="1097280"/>
            <a:ext cx="2651760" cy="13716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Stat number 2"/>
          <p:cNvSpPr txBox="1"/>
          <p:nvPr/>
        </p:nvSpPr>
        <p:spPr>
          <a:xfrm>
            <a:off x="3291840" y="114300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78</a:t>
            </a:r>
            <a:endParaRPr lang="en-US" sz="4000" dirty="0"/>
          </a:p>
        </p:txBody>
      </p:sp>
      <p:sp>
        <p:nvSpPr>
          <p:cNvPr id="8" name="Stat label 2"/>
          <p:cNvSpPr txBox="1"/>
          <p:nvPr/>
        </p:nvSpPr>
        <p:spPr>
          <a:xfrm>
            <a:off x="3291840" y="18745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run in the standard setup</a:t>
            </a:r>
            <a:endParaRPr lang="en-US" sz="1300" dirty="0"/>
          </a:p>
        </p:txBody>
      </p:sp>
      <p:sp>
        <p:nvSpPr>
          <p:cNvPr id="9" name="Stat card 3"/>
          <p:cNvSpPr/>
          <p:nvPr/>
        </p:nvSpPr>
        <p:spPr>
          <a:xfrm>
            <a:off x="6126480" y="1097280"/>
            <a:ext cx="2651760" cy="13716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tat number 3"/>
          <p:cNvSpPr txBox="1"/>
          <p:nvPr/>
        </p:nvSpPr>
        <p:spPr>
          <a:xfrm>
            <a:off x="6126480" y="114300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5</a:t>
            </a:r>
            <a:endParaRPr lang="en-US" sz="4000" dirty="0"/>
          </a:p>
        </p:txBody>
      </p:sp>
      <p:sp>
        <p:nvSpPr>
          <p:cNvPr id="11" name="Stat label 3"/>
          <p:cNvSpPr txBox="1"/>
          <p:nvPr/>
        </p:nvSpPr>
        <p:spPr>
          <a:xfrm>
            <a:off x="6126480" y="18745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optional MySQL-only tests</a:t>
            </a:r>
            <a:endParaRPr lang="en-US" sz="1300" dirty="0"/>
          </a:p>
        </p:txBody>
      </p:sp>
      <p:sp>
        <p:nvSpPr>
          <p:cNvPr id="12" name="Testing bullets"/>
          <p:cNvSpPr txBox="1"/>
          <p:nvPr/>
        </p:nvSpPr>
        <p:spPr>
          <a:xfrm>
            <a:off x="457200" y="2743200"/>
            <a:ext cx="82296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Covered: create, list, edit, delete, positive amounts, required fields, categories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Covered: date, category and combined filters; monthly and category totals; empty data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Static review: imports, routes, templates, forms, schema match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Standard tests use SQLite in a temporary folder; real data is never touched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Conclusion and future scope</a:t>
            </a:r>
            <a:endParaRPr lang="en-US" sz="2600" dirty="0"/>
          </a:p>
        </p:txBody>
      </p:sp>
      <p:sp>
        <p:nvSpPr>
          <p:cNvPr id="3" name="Conclusion card"/>
          <p:cNvSpPr/>
          <p:nvPr/>
        </p:nvSpPr>
        <p:spPr>
          <a:xfrm>
            <a:off x="457200" y="1097280"/>
            <a:ext cx="3931920" cy="29260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Conclusion accent"/>
          <p:cNvSpPr/>
          <p:nvPr/>
        </p:nvSpPr>
        <p:spPr>
          <a:xfrm>
            <a:off x="457200" y="1097280"/>
            <a:ext cx="64008" cy="292608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Conclusion heading"/>
          <p:cNvSpPr txBox="1"/>
          <p:nvPr/>
        </p:nvSpPr>
        <p:spPr>
          <a:xfrm>
            <a:off x="640080" y="11704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Conclusion</a:t>
            </a:r>
            <a:endParaRPr lang="en-US" sz="1500" dirty="0"/>
          </a:p>
        </p:txBody>
      </p:sp>
      <p:sp>
        <p:nvSpPr>
          <p:cNvPr id="6" name="Conclusion text"/>
          <p:cNvSpPr txBox="1"/>
          <p:nvPr/>
        </p:nvSpPr>
        <p:spPr>
          <a:xfrm>
            <a:off x="640080" y="1554480"/>
            <a:ext cx="3657600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system records and organises expenses reliably, answers date and category questions quickly, and presents spending as numbers and charts. It runs locally with a simple Windows setup.</a:t>
            </a:r>
            <a:endParaRPr lang="en-US" sz="1400" dirty="0"/>
          </a:p>
        </p:txBody>
      </p:sp>
      <p:sp>
        <p:nvSpPr>
          <p:cNvPr id="7" name="Future card"/>
          <p:cNvSpPr/>
          <p:nvPr/>
        </p:nvSpPr>
        <p:spPr>
          <a:xfrm>
            <a:off x="4754880" y="1097280"/>
            <a:ext cx="3931920" cy="29260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Future accent"/>
          <p:cNvSpPr/>
          <p:nvPr/>
        </p:nvSpPr>
        <p:spPr>
          <a:xfrm>
            <a:off x="4754880" y="1097280"/>
            <a:ext cx="64008" cy="292608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Future heading"/>
          <p:cNvSpPr txBox="1"/>
          <p:nvPr/>
        </p:nvSpPr>
        <p:spPr>
          <a:xfrm>
            <a:off x="4937760" y="11704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Future scope</a:t>
            </a:r>
            <a:endParaRPr lang="en-US" sz="1500" dirty="0"/>
          </a:p>
        </p:txBody>
      </p:sp>
      <p:sp>
        <p:nvSpPr>
          <p:cNvPr id="10" name="Future text"/>
          <p:cNvSpPr txBox="1"/>
          <p:nvPr/>
        </p:nvSpPr>
        <p:spPr>
          <a:xfrm>
            <a:off x="4937760" y="1554480"/>
            <a:ext cx="3657600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User login and multiple users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Monthly budgets and alerts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Recurring expenses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Import from bank statements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Mobile-friendly app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xpense Tracker">
  <a:themeElements>
    <a:clrScheme name="Expense Tracker">
      <a:dk1>
        <a:srgbClr val="1F2937"/>
      </a:dk1>
      <a:lt1>
        <a:srgbClr val="FFFFFF"/>
      </a:lt1>
      <a:dk2>
        <a:srgbClr val="312E81"/>
      </a:dk2>
      <a:lt2>
        <a:srgbClr val="F3F4F6"/>
      </a:lt2>
      <a:accent1>
        <a:srgbClr val="4F46E5"/>
      </a:accent1>
      <a:accent2>
        <a:srgbClr val="06B6D4"/>
      </a:accent2>
      <a:accent3>
        <a:srgbClr val="10B981"/>
      </a:accent3>
      <a:accent4>
        <a:srgbClr val="F59E0B"/>
      </a:accent4>
      <a:accent5>
        <a:srgbClr val="EF4444"/>
      </a:accent5>
      <a:accent6>
        <a:srgbClr val="8B5CF6"/>
      </a:accent6>
      <a:hlink>
        <a:srgbClr val="4F46E5"/>
      </a:hlink>
      <a:folHlink>
        <a:srgbClr val="8B5CF6"/>
      </a:folHlink>
    </a:clrScheme>
    <a:fontScheme name="Expense Tracker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Personal Expense Tracking System</dc:title>
  <dc:subject>PptxGenJS Presentation</dc:subject>
  <dc:creator>PptxGenJS</dc:creator>
  <cp:lastModifiedBy>PptxGenJS</cp:lastModifiedBy>
  <cp:revision>1</cp:revision>
  <dcterms:created xsi:type="dcterms:W3CDTF">2026-10-22T11:47:19Z</dcterms:created>
  <dcterms:modified xsi:type="dcterms:W3CDTF">2026-10-22T11:47:19Z</dcterms:modified>
</cp:coreProperties>
</file>